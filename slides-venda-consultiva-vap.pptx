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051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o treinamento reforçando que a venda consultiva é um processo. O vendedor não deve começar falando do caminhão: primeiro entende o cliente e depois apresenta a melhor 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este slide para mostrar que cada etapa tem uma função. O diagnóstico é o coração do processo, mas todas as etapas são importantes.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preparação reduz improviso. Para Man Motors, isso inclui saber o tipo de carga, rota, frota atual, orçamento e urgência do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Diga que rapport não é bajulação. É respeito, atenção, escuta e postura profissional desde o primeiro contato.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Incentive perguntas: Como fazem hoje? Qual o maior desafio? O que acontece se continuar assim? O vendedor precisa entender antes de oferecer.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escuta ativa transmite segurança. Repetir o que o cliente disse ajuda a evitar erro e aumenta confiança.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caminhões: não é só motor ou ano. É economia, produtividade, capacidade, menor risco, adequação à operação do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preço sempre pesa quando o valor não está claro. Quando o cliente percebe retorno, a negociação fica mais madura.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Ensine que objeção não é rejeição. É dúvida, medo ou falta de informação. O vendedor precisa acolher e esclarecer.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fechamento deve ser consequência do diagnóstico, valor e confiança. Pressionar demais pode quebrar a confiança construída.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pós-venda é ativo comercial. Cliente bem acompanhado volta, indica e fortalece a marca Man Motors.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pedindo que cada participante escolha uma ação concreta para aplicar. O importante é sair com compromisso prático, não apenas com teoria.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C"/>
          </a:solidFill>
          <a:ln w="12700">
            <a:solidFill>
              <a:srgbClr val="F4ECDC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" name="Shape 1"/>
          <p:cNvSpPr/>
          <p:nvPr/>
        </p:nvSpPr>
        <p:spPr>
          <a:xfrm>
            <a:off x="8965" y="0"/>
            <a:ext cx="4297680" cy="68580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4" name="Shape 2"/>
          <p:cNvSpPr/>
          <p:nvPr/>
        </p:nvSpPr>
        <p:spPr>
          <a:xfrm>
            <a:off x="4315968" y="0"/>
            <a:ext cx="164592" cy="6858000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6" name="Text 3"/>
          <p:cNvSpPr/>
          <p:nvPr/>
        </p:nvSpPr>
        <p:spPr>
          <a:xfrm>
            <a:off x="4663440" y="960120"/>
            <a:ext cx="6035040" cy="32004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OS 9 PASSOS DA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663440" y="1298448"/>
            <a:ext cx="6126480" cy="7132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VENDA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4663440" y="2057400"/>
            <a:ext cx="4206240" cy="512064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9" name="Text 6"/>
          <p:cNvSpPr/>
          <p:nvPr/>
        </p:nvSpPr>
        <p:spPr>
          <a:xfrm>
            <a:off x="4809744" y="2148840"/>
            <a:ext cx="3886200" cy="20116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CONSULTIVA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663440" y="2880360"/>
            <a:ext cx="5029200" cy="2286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Material de estudo para equipe comercial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63440" y="3337560"/>
            <a:ext cx="5120640" cy="2286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80% ESCUTAR. 20% FALAR.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63440" y="3730752"/>
            <a:ext cx="5303520" cy="41148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Quanto melhor o diagnóstico, mais natural será o fechamento.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63440" y="6080760"/>
            <a:ext cx="5577840" cy="219456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574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MAN MOTORS S.A.  •  </a:t>
            </a:r>
            <a:r>
              <a:rPr lang="en-US" sz="1100" b="1" dirty="0" err="1">
                <a:solidFill>
                  <a:srgbClr val="5F574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Fuerza</a:t>
            </a:r>
            <a:r>
              <a:rPr lang="en-US" sz="1100" b="1" dirty="0">
                <a:solidFill>
                  <a:srgbClr val="5F574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1100" b="1" dirty="0" err="1">
                <a:solidFill>
                  <a:srgbClr val="5F574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conecta</a:t>
            </a:r>
            <a:r>
              <a:rPr lang="en-US" sz="1100" b="1" dirty="0">
                <a:solidFill>
                  <a:srgbClr val="5F574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5F574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caminos</a:t>
            </a:r>
            <a:endParaRPr lang="en-US" sz="11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ADE49AF-2EBF-495C-BE4E-79BFE415F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1413"/>
            <a:ext cx="3017520" cy="135517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5" name="Text 2"/>
          <p:cNvSpPr/>
          <p:nvPr/>
        </p:nvSpPr>
        <p:spPr>
          <a:xfrm>
            <a:off x="1947672" y="128016"/>
            <a:ext cx="7863840" cy="38404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Mapa do treinamento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966960" y="146304"/>
            <a:ext cx="1920240" cy="365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473952"/>
            <a:ext cx="598932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MAN MOTORS S.A.  • 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Fuerza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conecta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caminos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Disciplina  •  Organização  •  Foco  •  Ação  •  Resultados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5800"/>
            <a:ext cx="128016" cy="5660136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0" name="Text 7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A venda consultiva não é “empurrar produto”. É entender a necessidade, gerar confiança e conduzir o cliente para uma decisão segura.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31520" y="1965960"/>
            <a:ext cx="333756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2" name="Text 9"/>
          <p:cNvSpPr/>
          <p:nvPr/>
        </p:nvSpPr>
        <p:spPr>
          <a:xfrm>
            <a:off x="868680" y="2130552"/>
            <a:ext cx="411480" cy="34747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417320" y="2221992"/>
            <a:ext cx="2377440" cy="2286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480560" y="1965960"/>
            <a:ext cx="333756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5" name="Text 12"/>
          <p:cNvSpPr/>
          <p:nvPr/>
        </p:nvSpPr>
        <p:spPr>
          <a:xfrm>
            <a:off x="4617720" y="2130552"/>
            <a:ext cx="411480" cy="34747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166360" y="2221992"/>
            <a:ext cx="2377440" cy="2286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Rapport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229600" y="1965960"/>
            <a:ext cx="3337560" cy="841248"/>
          </a:xfrm>
          <a:prstGeom prst="roundRect">
            <a:avLst/>
          </a:prstGeom>
          <a:solidFill>
            <a:srgbClr val="C08A2A"/>
          </a:solidFill>
          <a:ln w="1524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8" name="Text 15"/>
          <p:cNvSpPr/>
          <p:nvPr/>
        </p:nvSpPr>
        <p:spPr>
          <a:xfrm>
            <a:off x="8366760" y="2130552"/>
            <a:ext cx="411480" cy="34747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915400" y="2221992"/>
            <a:ext cx="2377440" cy="2286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31520" y="3154680"/>
            <a:ext cx="333756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21" name="Text 18"/>
          <p:cNvSpPr/>
          <p:nvPr/>
        </p:nvSpPr>
        <p:spPr>
          <a:xfrm>
            <a:off x="868680" y="3319272"/>
            <a:ext cx="411480" cy="34747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417320" y="3410712"/>
            <a:ext cx="2377440" cy="2286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Escuta ativa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480560" y="3154680"/>
            <a:ext cx="333756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24" name="Text 21"/>
          <p:cNvSpPr/>
          <p:nvPr/>
        </p:nvSpPr>
        <p:spPr>
          <a:xfrm>
            <a:off x="4617720" y="3319272"/>
            <a:ext cx="411480" cy="34747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166360" y="3410712"/>
            <a:ext cx="2377440" cy="2286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Apresentação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229600" y="3154680"/>
            <a:ext cx="333756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27" name="Text 24"/>
          <p:cNvSpPr/>
          <p:nvPr/>
        </p:nvSpPr>
        <p:spPr>
          <a:xfrm>
            <a:off x="8366760" y="3319272"/>
            <a:ext cx="411480" cy="34747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8915400" y="3410712"/>
            <a:ext cx="2377440" cy="2286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31520" y="4343400"/>
            <a:ext cx="333756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0" name="Text 27"/>
          <p:cNvSpPr/>
          <p:nvPr/>
        </p:nvSpPr>
        <p:spPr>
          <a:xfrm>
            <a:off x="868680" y="4507992"/>
            <a:ext cx="411480" cy="34747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417320" y="4599432"/>
            <a:ext cx="2377440" cy="2286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Objeções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4480560" y="4343400"/>
            <a:ext cx="333756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3" name="Text 30"/>
          <p:cNvSpPr/>
          <p:nvPr/>
        </p:nvSpPr>
        <p:spPr>
          <a:xfrm>
            <a:off x="4617720" y="4507992"/>
            <a:ext cx="411480" cy="34747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5166360" y="4599432"/>
            <a:ext cx="2377440" cy="2286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229600" y="4343400"/>
            <a:ext cx="333756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6" name="Text 33"/>
          <p:cNvSpPr/>
          <p:nvPr/>
        </p:nvSpPr>
        <p:spPr>
          <a:xfrm>
            <a:off x="8366760" y="4507992"/>
            <a:ext cx="411480" cy="34747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8915400" y="4599432"/>
            <a:ext cx="2377440" cy="2286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Pós-venda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731520" y="5605272"/>
            <a:ext cx="10789920" cy="438912"/>
          </a:xfrm>
          <a:prstGeom prst="round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9" name="Text 36"/>
          <p:cNvSpPr/>
          <p:nvPr/>
        </p:nvSpPr>
        <p:spPr>
          <a:xfrm>
            <a:off x="960120" y="5724144"/>
            <a:ext cx="1033272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Regra de ouro: quanto melhor o diagnóstico, menos pressão será necessária no fechamento.</a:t>
            </a:r>
            <a:endParaRPr lang="en-US" sz="1250" dirty="0"/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685912E6-9534-4317-A2B2-3A08FEC96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"/>
            <a:ext cx="1058753" cy="47548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5" name="Text 2"/>
          <p:cNvSpPr/>
          <p:nvPr/>
        </p:nvSpPr>
        <p:spPr>
          <a:xfrm>
            <a:off x="1947672" y="128016"/>
            <a:ext cx="7863840" cy="38404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966960" y="146304"/>
            <a:ext cx="1920240" cy="365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Passo 1/9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473952"/>
            <a:ext cx="598932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MAN MOTORS S.A.  • 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Fuerza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connecta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caminos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Disciplina  •  Organização  •  Foco  •  Ação  •  Resultados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5800"/>
            <a:ext cx="128016" cy="5660136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0" name="Shape 7"/>
          <p:cNvSpPr/>
          <p:nvPr/>
        </p:nvSpPr>
        <p:spPr>
          <a:xfrm>
            <a:off x="566928" y="1024128"/>
            <a:ext cx="1051560" cy="1051560"/>
          </a:xfrm>
          <a:prstGeom prst="round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1" name="Text 8"/>
          <p:cNvSpPr/>
          <p:nvPr/>
        </p:nvSpPr>
        <p:spPr>
          <a:xfrm>
            <a:off x="786384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828800" y="1042416"/>
            <a:ext cx="731520" cy="7315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08A2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743200" y="1069848"/>
            <a:ext cx="8046720" cy="43891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43200" y="1581912"/>
            <a:ext cx="7132320" cy="29260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Antes do contato, estude o cliente.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" y="2331720"/>
            <a:ext cx="10881360" cy="0"/>
          </a:xfrm>
          <a:prstGeom prst="line">
            <a:avLst/>
          </a:prstGeom>
          <a:noFill/>
          <a:ln w="1270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6" name="Text 13"/>
          <p:cNvSpPr/>
          <p:nvPr/>
        </p:nvSpPr>
        <p:spPr>
          <a:xfrm>
            <a:off x="68580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Como aplicar na prática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3035808"/>
            <a:ext cx="4892040" cy="1508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Conheça a empresa, mercado e concorrentes.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Defina o objetivo da visita.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Tenha informações e materiais preparados.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72200" y="2606040"/>
            <a:ext cx="4983480" cy="1984248"/>
          </a:xfrm>
          <a:prstGeom prst="roundRect">
            <a:avLst/>
          </a:prstGeom>
          <a:solidFill>
            <a:srgbClr val="F4ECDC"/>
          </a:solidFill>
          <a:ln w="1397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9" name="Text 16"/>
          <p:cNvSpPr/>
          <p:nvPr/>
        </p:nvSpPr>
        <p:spPr>
          <a:xfrm>
            <a:off x="6446520" y="2852928"/>
            <a:ext cx="438912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3310128"/>
            <a:ext cx="4343400" cy="9144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O que preciso saber para agregar valor antes mesmo de chegar?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85800" y="4983480"/>
            <a:ext cx="10469880" cy="822960"/>
          </a:xfrm>
          <a:prstGeom prst="round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22" name="Text 19"/>
          <p:cNvSpPr/>
          <p:nvPr/>
        </p:nvSpPr>
        <p:spPr>
          <a:xfrm>
            <a:off x="960120" y="5157216"/>
            <a:ext cx="219456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BD5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Frase para estudar e falar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5394960"/>
            <a:ext cx="982980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Explique que preparação reduz improviso. Para Man Motors, isso inclui saber o tipo de carga, rota, frota atual, orçamento e urgência do cliente.</a:t>
            </a:r>
            <a:endParaRPr lang="en-US" sz="123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4704EA47-366B-430F-B84A-E7DF94406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"/>
            <a:ext cx="1058753" cy="47548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5" name="Text 2"/>
          <p:cNvSpPr/>
          <p:nvPr/>
        </p:nvSpPr>
        <p:spPr>
          <a:xfrm>
            <a:off x="1947672" y="128016"/>
            <a:ext cx="7863840" cy="38404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Conexão e construção de Rapport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966960" y="146304"/>
            <a:ext cx="1920240" cy="365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Passo 2/9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473952"/>
            <a:ext cx="598932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MAN MOTORS S.A.  • 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Fuerza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conecta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caminos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Disciplina  •  Organização  •  Foco  •  Ação  •  Resultados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5800"/>
            <a:ext cx="128016" cy="5660136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0" name="Shape 7"/>
          <p:cNvSpPr/>
          <p:nvPr/>
        </p:nvSpPr>
        <p:spPr>
          <a:xfrm>
            <a:off x="566928" y="1024128"/>
            <a:ext cx="1051560" cy="1051560"/>
          </a:xfrm>
          <a:prstGeom prst="round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1" name="Text 8"/>
          <p:cNvSpPr/>
          <p:nvPr/>
        </p:nvSpPr>
        <p:spPr>
          <a:xfrm>
            <a:off x="786384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828800" y="1042416"/>
            <a:ext cx="731520" cy="7315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08A2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743200" y="1069848"/>
            <a:ext cx="8046720" cy="43891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CONEXÃO E CONSTRUÇÃO DE RAPPORT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43200" y="1581912"/>
            <a:ext cx="7132320" cy="29260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As pessoas compram de quem gera confiança.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" y="2331720"/>
            <a:ext cx="10881360" cy="0"/>
          </a:xfrm>
          <a:prstGeom prst="line">
            <a:avLst/>
          </a:prstGeom>
          <a:noFill/>
          <a:ln w="1270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6" name="Text 13"/>
          <p:cNvSpPr/>
          <p:nvPr/>
        </p:nvSpPr>
        <p:spPr>
          <a:xfrm>
            <a:off x="68580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Como aplicar na prática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3035808"/>
            <a:ext cx="4892040" cy="1508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Cumprimente de forma genuína.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Observe o perfil comportamental.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Crie sintonia sem parecer artificial.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Demonstre interesse verdadeiro.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72200" y="2606040"/>
            <a:ext cx="4983480" cy="1984248"/>
          </a:xfrm>
          <a:prstGeom prst="roundRect">
            <a:avLst/>
          </a:prstGeom>
          <a:solidFill>
            <a:srgbClr val="F4ECDC"/>
          </a:solidFill>
          <a:ln w="1397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9" name="Text 16"/>
          <p:cNvSpPr/>
          <p:nvPr/>
        </p:nvSpPr>
        <p:spPr>
          <a:xfrm>
            <a:off x="6446520" y="2852928"/>
            <a:ext cx="438912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3310128"/>
            <a:ext cx="4343400" cy="9144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Objetivo: criar um ambiente seguro para conversar.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85800" y="4983480"/>
            <a:ext cx="10469880" cy="822960"/>
          </a:xfrm>
          <a:prstGeom prst="round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22" name="Text 19"/>
          <p:cNvSpPr/>
          <p:nvPr/>
        </p:nvSpPr>
        <p:spPr>
          <a:xfrm>
            <a:off x="960120" y="5157216"/>
            <a:ext cx="219456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BD5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Frase para estudar e falar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5394960"/>
            <a:ext cx="982980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Diga que rapport não é bajulação. É respeito, atenção, escuta e postura profissional desde o primeiro contato.</a:t>
            </a:r>
            <a:endParaRPr lang="en-US" sz="123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BE6AA42A-6192-4BBA-B0C0-BA7CE0F45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"/>
            <a:ext cx="1058753" cy="47548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5" name="Text 2"/>
          <p:cNvSpPr/>
          <p:nvPr/>
        </p:nvSpPr>
        <p:spPr>
          <a:xfrm>
            <a:off x="1947672" y="128016"/>
            <a:ext cx="7863840" cy="38404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Diagnóstico das necessidades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966960" y="146304"/>
            <a:ext cx="1920240" cy="365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Passo 3/9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473952"/>
            <a:ext cx="598932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MAN MOTORS S.A.  • 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Fuerza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conecta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caminos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Disciplina  •  Organização  •  Foco  •  Ação  •  Resultados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5800"/>
            <a:ext cx="128016" cy="5660136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0" name="Shape 7"/>
          <p:cNvSpPr/>
          <p:nvPr/>
        </p:nvSpPr>
        <p:spPr>
          <a:xfrm>
            <a:off x="566928" y="1024128"/>
            <a:ext cx="1051560" cy="1051560"/>
          </a:xfrm>
          <a:prstGeom prst="round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1" name="Text 8"/>
          <p:cNvSpPr/>
          <p:nvPr/>
        </p:nvSpPr>
        <p:spPr>
          <a:xfrm>
            <a:off x="786384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828800" y="1042416"/>
            <a:ext cx="731520" cy="7315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08A2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743200" y="1069848"/>
            <a:ext cx="8046720" cy="43891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DIAGNÓSTICO DAS NECESSIDADES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43200" y="1581912"/>
            <a:ext cx="7132320" cy="29260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Este é o coração da venda consultiva.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" y="2331720"/>
            <a:ext cx="10881360" cy="0"/>
          </a:xfrm>
          <a:prstGeom prst="line">
            <a:avLst/>
          </a:prstGeom>
          <a:noFill/>
          <a:ln w="1270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6" name="Text 13"/>
          <p:cNvSpPr/>
          <p:nvPr/>
        </p:nvSpPr>
        <p:spPr>
          <a:xfrm>
            <a:off x="68580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Como aplicar na prática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3035808"/>
            <a:ext cx="4892040" cy="1508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Pergunte antes de apresentar.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Explore situação atual, dificuldades e objetivos.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Entenda impactos financeiros e emocionais.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72200" y="2606040"/>
            <a:ext cx="4983480" cy="1984248"/>
          </a:xfrm>
          <a:prstGeom prst="roundRect">
            <a:avLst/>
          </a:prstGeom>
          <a:solidFill>
            <a:srgbClr val="F4ECDC"/>
          </a:solidFill>
          <a:ln w="1397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9" name="Text 16"/>
          <p:cNvSpPr/>
          <p:nvPr/>
        </p:nvSpPr>
        <p:spPr>
          <a:xfrm>
            <a:off x="6446520" y="2852928"/>
            <a:ext cx="438912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3310128"/>
            <a:ext cx="4343400" cy="9144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Quem pergunta conduz a venda.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85800" y="4983480"/>
            <a:ext cx="10469880" cy="822960"/>
          </a:xfrm>
          <a:prstGeom prst="round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22" name="Text 19"/>
          <p:cNvSpPr/>
          <p:nvPr/>
        </p:nvSpPr>
        <p:spPr>
          <a:xfrm>
            <a:off x="960120" y="5157216"/>
            <a:ext cx="219456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BD5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Frase para estudar e falar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5394960"/>
            <a:ext cx="982980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Incentive perguntas: Como fazem hoje? Qual o maior desafio? O que acontece se continuar assim? O vendedor precisa entender antes de oferecer.</a:t>
            </a:r>
            <a:endParaRPr lang="en-US" sz="123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E7ABDDF8-296D-4DA3-87C3-8F30D4AAE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"/>
            <a:ext cx="1058753" cy="47548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5" name="Text 2"/>
          <p:cNvSpPr/>
          <p:nvPr/>
        </p:nvSpPr>
        <p:spPr>
          <a:xfrm>
            <a:off x="1947672" y="128016"/>
            <a:ext cx="7863840" cy="38404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Escuta ativa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966960" y="146304"/>
            <a:ext cx="1920240" cy="365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Passo 4/9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473952"/>
            <a:ext cx="598932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MAN MOTORS S.A.  • 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Fuerza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conecta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caminos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Disciplina  •  Organização  •  Foco  •  Ação  •  Resultados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5800"/>
            <a:ext cx="128016" cy="5660136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0" name="Shape 7"/>
          <p:cNvSpPr/>
          <p:nvPr/>
        </p:nvSpPr>
        <p:spPr>
          <a:xfrm>
            <a:off x="566928" y="1024128"/>
            <a:ext cx="1051560" cy="1051560"/>
          </a:xfrm>
          <a:prstGeom prst="round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1" name="Text 8"/>
          <p:cNvSpPr/>
          <p:nvPr/>
        </p:nvSpPr>
        <p:spPr>
          <a:xfrm>
            <a:off x="786384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828800" y="1042416"/>
            <a:ext cx="731520" cy="7315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08A2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743200" y="1069848"/>
            <a:ext cx="8046720" cy="43891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ESCUTA ATIVA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43200" y="1581912"/>
            <a:ext cx="7132320" cy="29260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Escutar é diferente de esperar a vez de falar.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" y="2331720"/>
            <a:ext cx="10881360" cy="0"/>
          </a:xfrm>
          <a:prstGeom prst="line">
            <a:avLst/>
          </a:prstGeom>
          <a:noFill/>
          <a:ln w="1270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6" name="Text 13"/>
          <p:cNvSpPr/>
          <p:nvPr/>
        </p:nvSpPr>
        <p:spPr>
          <a:xfrm>
            <a:off x="68580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Como aplicar na prática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3035808"/>
            <a:ext cx="4892040" cy="1508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Não interromper.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Fazer anotações.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Confirmar entendimento.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Demonstrar empatia.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72200" y="2606040"/>
            <a:ext cx="4983480" cy="1984248"/>
          </a:xfrm>
          <a:prstGeom prst="roundRect">
            <a:avLst/>
          </a:prstGeom>
          <a:solidFill>
            <a:srgbClr val="F4ECDC"/>
          </a:solidFill>
          <a:ln w="1397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9" name="Text 16"/>
          <p:cNvSpPr/>
          <p:nvPr/>
        </p:nvSpPr>
        <p:spPr>
          <a:xfrm>
            <a:off x="6446520" y="2852928"/>
            <a:ext cx="438912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3310128"/>
            <a:ext cx="4343400" cy="9144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Exemplo: “Se entendi corretamente, o maior problema é...”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85800" y="4983480"/>
            <a:ext cx="10469880" cy="822960"/>
          </a:xfrm>
          <a:prstGeom prst="round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22" name="Text 19"/>
          <p:cNvSpPr/>
          <p:nvPr/>
        </p:nvSpPr>
        <p:spPr>
          <a:xfrm>
            <a:off x="960120" y="5157216"/>
            <a:ext cx="219456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BD5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Frase para estudar e falar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5394960"/>
            <a:ext cx="982980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Mostre que escuta ativa transmite segurança. Repetir o que o cliente disse ajuda a evitar erro e aumenta confiança.</a:t>
            </a:r>
            <a:endParaRPr lang="en-US" sz="123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F5DE3345-E44E-45E1-84DF-2FCE6C477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"/>
            <a:ext cx="1058753" cy="47548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5" name="Text 2"/>
          <p:cNvSpPr/>
          <p:nvPr/>
        </p:nvSpPr>
        <p:spPr>
          <a:xfrm>
            <a:off x="1947672" y="128016"/>
            <a:ext cx="7863840" cy="38404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Apresentação da solução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966960" y="146304"/>
            <a:ext cx="1920240" cy="365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Passo 5/9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473952"/>
            <a:ext cx="598932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MAN MOTORS S.A.  • 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Fuerza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conecta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caminos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Disciplina  •  Organização  •  Foco  •  Ação  •  Resultados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5800"/>
            <a:ext cx="128016" cy="5660136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0" name="Shape 7"/>
          <p:cNvSpPr/>
          <p:nvPr/>
        </p:nvSpPr>
        <p:spPr>
          <a:xfrm>
            <a:off x="566928" y="1024128"/>
            <a:ext cx="1051560" cy="1051560"/>
          </a:xfrm>
          <a:prstGeom prst="round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1" name="Text 8"/>
          <p:cNvSpPr/>
          <p:nvPr/>
        </p:nvSpPr>
        <p:spPr>
          <a:xfrm>
            <a:off x="786384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828800" y="1042416"/>
            <a:ext cx="731520" cy="7315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08A2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752165" y="1069848"/>
            <a:ext cx="8046720" cy="43891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APRESENTAÇÃO DA SOLUÇÃO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43200" y="1581912"/>
            <a:ext cx="7132320" cy="29260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Apresente apenas aquilo que resolve as dores identificadas.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" y="2331720"/>
            <a:ext cx="10881360" cy="0"/>
          </a:xfrm>
          <a:prstGeom prst="line">
            <a:avLst/>
          </a:prstGeom>
          <a:noFill/>
          <a:ln w="1270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6" name="Text 13"/>
          <p:cNvSpPr/>
          <p:nvPr/>
        </p:nvSpPr>
        <p:spPr>
          <a:xfrm>
            <a:off x="68580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Como aplicar na prática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3035808"/>
            <a:ext cx="4892040" cy="1508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Não venda características.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Venda benefícios.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Transforme produto em resultado.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72200" y="2606040"/>
            <a:ext cx="4983480" cy="1984248"/>
          </a:xfrm>
          <a:prstGeom prst="roundRect">
            <a:avLst/>
          </a:prstGeom>
          <a:solidFill>
            <a:srgbClr val="F4ECDC"/>
          </a:solidFill>
          <a:ln w="1397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9" name="Text 16"/>
          <p:cNvSpPr/>
          <p:nvPr/>
        </p:nvSpPr>
        <p:spPr>
          <a:xfrm>
            <a:off x="6446520" y="2852928"/>
            <a:ext cx="438912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3310128"/>
            <a:ext cx="4343400" cy="9144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Produto → Benefício → Resultado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03730" y="4983480"/>
            <a:ext cx="10469880" cy="822960"/>
          </a:xfrm>
          <a:prstGeom prst="round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22" name="Text 19"/>
          <p:cNvSpPr/>
          <p:nvPr/>
        </p:nvSpPr>
        <p:spPr>
          <a:xfrm>
            <a:off x="960120" y="5157216"/>
            <a:ext cx="219456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BD5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Frase para estudar e falar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5394960"/>
            <a:ext cx="982980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Para caminhões: não é só motor ou ano. É economia, produtividade, capacidade, menor risco, adequação à operação do cliente.</a:t>
            </a:r>
            <a:endParaRPr lang="en-US" sz="123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92051800-2F47-4AF2-91E4-CE155DFD7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"/>
            <a:ext cx="1058753" cy="47548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5" name="Text 2"/>
          <p:cNvSpPr/>
          <p:nvPr/>
        </p:nvSpPr>
        <p:spPr>
          <a:xfrm>
            <a:off x="1947672" y="128016"/>
            <a:ext cx="7863840" cy="38404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Geração de valor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966960" y="146304"/>
            <a:ext cx="1920240" cy="365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Passo 6/9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473952"/>
            <a:ext cx="598932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MAN MOTORS S.A.  • 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Fuerza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conecta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caminos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Disciplina  •  Organização  •  Foco  •  Ação  •  Resultados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5800"/>
            <a:ext cx="128016" cy="5660136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0" name="Shape 7"/>
          <p:cNvSpPr/>
          <p:nvPr/>
        </p:nvSpPr>
        <p:spPr>
          <a:xfrm>
            <a:off x="566928" y="1024128"/>
            <a:ext cx="1051560" cy="1051560"/>
          </a:xfrm>
          <a:prstGeom prst="round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1" name="Text 8"/>
          <p:cNvSpPr/>
          <p:nvPr/>
        </p:nvSpPr>
        <p:spPr>
          <a:xfrm>
            <a:off x="786384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828800" y="1042416"/>
            <a:ext cx="731520" cy="7315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08A2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743200" y="1069848"/>
            <a:ext cx="8046720" cy="43891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GERAÇÃO DE VALOR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43200" y="1581912"/>
            <a:ext cx="7132320" cy="29260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Mostre que o investimento gera retorno.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" y="2331720"/>
            <a:ext cx="10881360" cy="0"/>
          </a:xfrm>
          <a:prstGeom prst="line">
            <a:avLst/>
          </a:prstGeom>
          <a:noFill/>
          <a:ln w="1270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6" name="Text 13"/>
          <p:cNvSpPr/>
          <p:nvPr/>
        </p:nvSpPr>
        <p:spPr>
          <a:xfrm>
            <a:off x="68580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Como aplicar na prática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3035808"/>
            <a:ext cx="4892040" cy="1508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Economia e segurança.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Praticidade e crescimento.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Tranquilidade e lucro.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72200" y="2606040"/>
            <a:ext cx="4983480" cy="1984248"/>
          </a:xfrm>
          <a:prstGeom prst="roundRect">
            <a:avLst/>
          </a:prstGeom>
          <a:solidFill>
            <a:srgbClr val="F4ECDC"/>
          </a:solidFill>
          <a:ln w="1397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9" name="Text 16"/>
          <p:cNvSpPr/>
          <p:nvPr/>
        </p:nvSpPr>
        <p:spPr>
          <a:xfrm>
            <a:off x="6446520" y="2852928"/>
            <a:ext cx="438912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3310128"/>
            <a:ext cx="4343400" cy="9144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Venda transformação. Não preço.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85800" y="4983480"/>
            <a:ext cx="10469880" cy="822960"/>
          </a:xfrm>
          <a:prstGeom prst="round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22" name="Text 19"/>
          <p:cNvSpPr/>
          <p:nvPr/>
        </p:nvSpPr>
        <p:spPr>
          <a:xfrm>
            <a:off x="960120" y="5157216"/>
            <a:ext cx="219456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BD5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Frase para estudar e falar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5394960"/>
            <a:ext cx="982980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Explique que preço sempre pesa quando o valor não está claro. Quando o cliente percebe retorno, a negociação fica mais madura.</a:t>
            </a:r>
            <a:endParaRPr lang="en-US" sz="123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1F4F39D4-CED5-4287-B7DD-B60065B54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"/>
            <a:ext cx="1058753" cy="47548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5" name="Text 2"/>
          <p:cNvSpPr/>
          <p:nvPr/>
        </p:nvSpPr>
        <p:spPr>
          <a:xfrm>
            <a:off x="1947672" y="128016"/>
            <a:ext cx="7863840" cy="38404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Tratamento das objeções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966960" y="146304"/>
            <a:ext cx="1920240" cy="365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Passo 7/9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473952"/>
            <a:ext cx="598932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MAN MOTORS S.A.  • 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Fuerza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conecta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caminos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Disciplina  •  Organização  •  Foco  •  Ação  •  Resultados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5800"/>
            <a:ext cx="128016" cy="5660136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0" name="Shape 7"/>
          <p:cNvSpPr/>
          <p:nvPr/>
        </p:nvSpPr>
        <p:spPr>
          <a:xfrm>
            <a:off x="566928" y="1024128"/>
            <a:ext cx="1051560" cy="1051560"/>
          </a:xfrm>
          <a:prstGeom prst="round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1" name="Text 8"/>
          <p:cNvSpPr/>
          <p:nvPr/>
        </p:nvSpPr>
        <p:spPr>
          <a:xfrm>
            <a:off x="786384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828800" y="1042416"/>
            <a:ext cx="731520" cy="7315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08A2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770095" y="1069848"/>
            <a:ext cx="8046720" cy="43891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TRATAMENTO DAS OBJEÇÕES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43200" y="1581912"/>
            <a:ext cx="7132320" cy="29260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Objeções significam interesse.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" y="2331720"/>
            <a:ext cx="10881360" cy="0"/>
          </a:xfrm>
          <a:prstGeom prst="line">
            <a:avLst/>
          </a:prstGeom>
          <a:noFill/>
          <a:ln w="1270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6" name="Text 13"/>
          <p:cNvSpPr/>
          <p:nvPr/>
        </p:nvSpPr>
        <p:spPr>
          <a:xfrm>
            <a:off x="68580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Como aplicar na prática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3035808"/>
            <a:ext cx="4892040" cy="1508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Nunca confronte. Primeiro compreenda.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Ouvir, validar, esclarecer e confirmar.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Responda com segurança e exemplos.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72200" y="2606040"/>
            <a:ext cx="4983480" cy="1984248"/>
          </a:xfrm>
          <a:prstGeom prst="roundRect">
            <a:avLst/>
          </a:prstGeom>
          <a:solidFill>
            <a:srgbClr val="F4ECDC"/>
          </a:solidFill>
          <a:ln w="1397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9" name="Text 16"/>
          <p:cNvSpPr/>
          <p:nvPr/>
        </p:nvSpPr>
        <p:spPr>
          <a:xfrm>
            <a:off x="6446520" y="2852928"/>
            <a:ext cx="438912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3310128"/>
            <a:ext cx="4343400" cy="9144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“Entendo sua preocupação...”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85800" y="4983480"/>
            <a:ext cx="10469880" cy="822960"/>
          </a:xfrm>
          <a:prstGeom prst="round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22" name="Text 19"/>
          <p:cNvSpPr/>
          <p:nvPr/>
        </p:nvSpPr>
        <p:spPr>
          <a:xfrm>
            <a:off x="960120" y="5157216"/>
            <a:ext cx="219456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BD5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Frase para estudar e falar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5394960"/>
            <a:ext cx="982980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Ensine que objeção não é rejeição. É dúvida, medo ou falta de informação. O vendedor precisa acolher e esclarecer.</a:t>
            </a:r>
            <a:endParaRPr lang="en-US" sz="123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BFE4ECF1-1009-4651-A95F-298AA9A16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"/>
            <a:ext cx="1058753" cy="47548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5" name="Text 2"/>
          <p:cNvSpPr/>
          <p:nvPr/>
        </p:nvSpPr>
        <p:spPr>
          <a:xfrm>
            <a:off x="1947672" y="128016"/>
            <a:ext cx="7863840" cy="38404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966960" y="146304"/>
            <a:ext cx="1920240" cy="365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Passo 8/9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473952"/>
            <a:ext cx="598932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MAN MOTORS S.A.  • 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Fuerza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conecta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caminos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Disciplina  •  Organização  •  Foco  •  Ação  •  Resultados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5800"/>
            <a:ext cx="128016" cy="5660136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0" name="Shape 7"/>
          <p:cNvSpPr/>
          <p:nvPr/>
        </p:nvSpPr>
        <p:spPr>
          <a:xfrm>
            <a:off x="566928" y="1024128"/>
            <a:ext cx="1051560" cy="1051560"/>
          </a:xfrm>
          <a:prstGeom prst="round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1" name="Text 8"/>
          <p:cNvSpPr/>
          <p:nvPr/>
        </p:nvSpPr>
        <p:spPr>
          <a:xfrm>
            <a:off x="786384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828800" y="1042416"/>
            <a:ext cx="731520" cy="7315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08A2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743200" y="1069848"/>
            <a:ext cx="8046720" cy="43891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43200" y="1581912"/>
            <a:ext cx="7132320" cy="29260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Conduza naturalmente para a decisão.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" y="2331720"/>
            <a:ext cx="10881360" cy="0"/>
          </a:xfrm>
          <a:prstGeom prst="line">
            <a:avLst/>
          </a:prstGeom>
          <a:noFill/>
          <a:ln w="1270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6" name="Text 13"/>
          <p:cNvSpPr/>
          <p:nvPr/>
        </p:nvSpPr>
        <p:spPr>
          <a:xfrm>
            <a:off x="68580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Como aplicar na prática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3035808"/>
            <a:ext cx="4892040" cy="1508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Pergunte: “Faz sentido para você?”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“Podemos iniciar?”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“Qual a melhor data para começarmos?”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72200" y="2606040"/>
            <a:ext cx="4983480" cy="1984248"/>
          </a:xfrm>
          <a:prstGeom prst="roundRect">
            <a:avLst/>
          </a:prstGeom>
          <a:solidFill>
            <a:srgbClr val="F4ECDC"/>
          </a:solidFill>
          <a:ln w="1397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9" name="Text 16"/>
          <p:cNvSpPr/>
          <p:nvPr/>
        </p:nvSpPr>
        <p:spPr>
          <a:xfrm>
            <a:off x="6446520" y="2852928"/>
            <a:ext cx="438912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3310128"/>
            <a:ext cx="4343400" cy="9144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Não pressione. Conduza.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85800" y="4983480"/>
            <a:ext cx="10469880" cy="822960"/>
          </a:xfrm>
          <a:prstGeom prst="round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22" name="Text 19"/>
          <p:cNvSpPr/>
          <p:nvPr/>
        </p:nvSpPr>
        <p:spPr>
          <a:xfrm>
            <a:off x="960120" y="5157216"/>
            <a:ext cx="219456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BD5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Frase para estudar e falar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5394960"/>
            <a:ext cx="982980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O fechamento deve ser consequência do diagnóstico, valor e confiança. Pressionar demais pode quebrar a confiança construída.</a:t>
            </a:r>
            <a:endParaRPr lang="en-US" sz="123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83A53E32-F697-4E20-9869-6C622F1D0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"/>
            <a:ext cx="1058753" cy="47548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5" name="Text 2"/>
          <p:cNvSpPr/>
          <p:nvPr/>
        </p:nvSpPr>
        <p:spPr>
          <a:xfrm>
            <a:off x="1947672" y="128016"/>
            <a:ext cx="7863840" cy="38404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Pós-venda e fidelização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966960" y="146304"/>
            <a:ext cx="1920240" cy="365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Passo 9/9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473952"/>
            <a:ext cx="598932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MAN MOTORS S.A.  • 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Fuerza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conecta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caminos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Disciplina  •  Organização  •  Foco  •  Ação  •  Resultados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5800"/>
            <a:ext cx="128016" cy="5660136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0" name="Shape 7"/>
          <p:cNvSpPr/>
          <p:nvPr/>
        </p:nvSpPr>
        <p:spPr>
          <a:xfrm>
            <a:off x="566928" y="1024128"/>
            <a:ext cx="1051560" cy="1051560"/>
          </a:xfrm>
          <a:prstGeom prst="round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1" name="Text 8"/>
          <p:cNvSpPr/>
          <p:nvPr/>
        </p:nvSpPr>
        <p:spPr>
          <a:xfrm>
            <a:off x="786384" y="1234440"/>
            <a:ext cx="594360" cy="4572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828800" y="1042416"/>
            <a:ext cx="731520" cy="7315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08A2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743200" y="1069848"/>
            <a:ext cx="8046720" cy="43891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PÓS-VENDA E FIDELIZAÇÃO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43200" y="1581912"/>
            <a:ext cx="7132320" cy="29260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A venda termina quando começa o relacionamento.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4360" y="2331720"/>
            <a:ext cx="10881360" cy="0"/>
          </a:xfrm>
          <a:prstGeom prst="line">
            <a:avLst/>
          </a:prstGeom>
          <a:noFill/>
          <a:ln w="1270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6" name="Text 13"/>
          <p:cNvSpPr/>
          <p:nvPr/>
        </p:nvSpPr>
        <p:spPr>
          <a:xfrm>
            <a:off x="68580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Como aplicar na prática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3035808"/>
            <a:ext cx="4892040" cy="1508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Acompanhe e confirme satisfação.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Ofereça suporte e novos contatos.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• Gere indicações.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72200" y="2606040"/>
            <a:ext cx="4983480" cy="1984248"/>
          </a:xfrm>
          <a:prstGeom prst="roundRect">
            <a:avLst/>
          </a:prstGeom>
          <a:solidFill>
            <a:srgbClr val="F4ECDC"/>
          </a:solidFill>
          <a:ln w="1397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9" name="Text 16"/>
          <p:cNvSpPr/>
          <p:nvPr/>
        </p:nvSpPr>
        <p:spPr>
          <a:xfrm>
            <a:off x="6446520" y="2852928"/>
            <a:ext cx="438912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Ponto de atenção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3310128"/>
            <a:ext cx="4343400" cy="91440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Clientes satisfeitos compram novamente e indicam novos clientes.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85800" y="4983480"/>
            <a:ext cx="10469880" cy="822960"/>
          </a:xfrm>
          <a:prstGeom prst="round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22" name="Text 19"/>
          <p:cNvSpPr/>
          <p:nvPr/>
        </p:nvSpPr>
        <p:spPr>
          <a:xfrm>
            <a:off x="960120" y="5157216"/>
            <a:ext cx="219456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BD5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Frase para estudar e falar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5394960"/>
            <a:ext cx="982980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Mostre que pós-venda é ativo comercial. Cliente bem acompanhado volta, indica e fortalece a marca Man Motors.</a:t>
            </a:r>
            <a:endParaRPr lang="en-US" sz="123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8B472F98-3D6B-49F3-9B2C-2E116676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"/>
            <a:ext cx="1058753" cy="47548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3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5" name="Text 2"/>
          <p:cNvSpPr/>
          <p:nvPr/>
        </p:nvSpPr>
        <p:spPr>
          <a:xfrm>
            <a:off x="1947672" y="128016"/>
            <a:ext cx="7863840" cy="38404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Resumo e plano de ação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966960" y="146304"/>
            <a:ext cx="1920240" cy="36576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Encerramento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6473952"/>
            <a:ext cx="598932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MAN MOTORS S.A.  • 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Fuerza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que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conecta</a:t>
            </a: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caminos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0" y="6473952"/>
            <a:ext cx="466344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Disciplina  •  Organização  •  Foco  •  Ação  •  Resultados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685800"/>
            <a:ext cx="128016" cy="5660136"/>
          </a:xfrm>
          <a:prstGeom prst="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0" name="Text 7"/>
          <p:cNvSpPr/>
          <p:nvPr/>
        </p:nvSpPr>
        <p:spPr>
          <a:xfrm>
            <a:off x="685800" y="987552"/>
            <a:ext cx="10698480" cy="53035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A excelência comercial nasce da disciplina no básico: perguntar bem, registrar corretamente e acompanhar até o cliente ficar satisfeito.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822960" y="1828800"/>
            <a:ext cx="4800600" cy="3291840"/>
          </a:xfrm>
          <a:prstGeom prst="roundRect">
            <a:avLst/>
          </a:prstGeom>
          <a:solidFill>
            <a:srgbClr val="F4ECDC"/>
          </a:solidFill>
          <a:ln w="12700">
            <a:solidFill>
              <a:srgbClr val="E3D3B0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2" name="Text 9"/>
          <p:cNvSpPr/>
          <p:nvPr/>
        </p:nvSpPr>
        <p:spPr>
          <a:xfrm>
            <a:off x="1143000" y="2057400"/>
            <a:ext cx="411480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Os 9 passos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2514600"/>
            <a:ext cx="4206240" cy="214884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1. Preparação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2. Conexão e construção de Rapport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3. Diagnóstico das necessidades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4. Escuta ativa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5. Apresentação da solução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6. Geração de valor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7. Tratamento das objeções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8. Fechamento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9. Pós-venda e fidelização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080760" y="1828800"/>
            <a:ext cx="4983480" cy="3291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5" name="Text 12"/>
          <p:cNvSpPr/>
          <p:nvPr/>
        </p:nvSpPr>
        <p:spPr>
          <a:xfrm>
            <a:off x="6400800" y="2057400"/>
            <a:ext cx="4389120" cy="25603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6651A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Plano de ação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0800" y="2514600"/>
            <a:ext cx="4389120" cy="201168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74E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Responder individualmente: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0" y="2907792"/>
            <a:ext cx="4114800" cy="1234440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1. Qual comportamento vou mudar a partir de segunda-feira?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2. Qual ação terá maior impacto no meu desempenho?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3. Como posso contribuir para a Man Motors alcançar melhores resultados?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22960" y="5559552"/>
            <a:ext cx="10241280" cy="475488"/>
          </a:xfrm>
          <a:prstGeom prst="roundRect">
            <a:avLst/>
          </a:prstGeom>
          <a:solidFill>
            <a:srgbClr val="C08A2A"/>
          </a:solidFill>
          <a:ln w="12700">
            <a:solidFill>
              <a:srgbClr val="C08A2A"/>
            </a:solidFill>
            <a:prstDash val="solid"/>
          </a:ln>
        </p:spPr>
        <p:txBody>
          <a:bodyPr wrap="square" lIns="82296" rIns="82296" tIns="41148" bIns="41148"/>
          <a:p/>
        </p:txBody>
      </p:sp>
      <p:sp>
        <p:nvSpPr>
          <p:cNvPr id="19" name="Text 16"/>
          <p:cNvSpPr/>
          <p:nvPr/>
        </p:nvSpPr>
        <p:spPr>
          <a:xfrm>
            <a:off x="1097280" y="5687568"/>
            <a:ext cx="9692640" cy="164592"/>
          </a:xfrm>
          <a:prstGeom prst="rect">
            <a:avLst/>
          </a:prstGeom>
          <a:noFill/>
          <a:ln/>
        </p:spPr>
        <p:txBody>
          <a:bodyPr wrap="square" lIns="82296" tIns="41148" rIns="82296" bIns="41148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210"/>
                </a:solidFill>
                <a:latin typeface="Poppins" pitchFamily="34" charset="0"/>
                <a:ea typeface="Arial" pitchFamily="34" charset="-122"/>
                <a:cs typeface="Arial" pitchFamily="34" charset="-120"/>
              </a:rPr>
              <a:t>80% ESCUTAR  •  20% FALAR  •  DIAGNOSTICAR ANTES DE APRESENTAR</a:t>
            </a:r>
            <a:endParaRPr lang="en-US" sz="13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56E8A86-51E2-4922-AD54-297CF2E93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"/>
            <a:ext cx="1058753" cy="47548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F3002C-3061-4A16-A1A4-984ABAAC79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210"/>
          </a:solidFill>
          <a:ln w="12700">
            <a:solidFill>
              <a:srgbClr val="151210"/>
            </a:solidFill>
            <a:prstDash val="solid"/>
          </a:ln>
        </p:spPr>
        <p:txBody>
          <a:bodyPr wrap="square" lIns="82296" rIns="82296" tIns="41148" bIns="41148"/>
          <a:p/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E2AC18-5849-47F6-85FE-B4FB386B6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80" y="2279156"/>
            <a:ext cx="5120640" cy="229968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35703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1478</Words>
  <Application>Microsoft Office PowerPoint</Application>
  <PresentationFormat>Panorámica</PresentationFormat>
  <Paragraphs>222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Man Motors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9 Passos da Venda Consultiva - Man Motors S.A.</dc:title>
  <dc:subject>Os 9 Passos da Venda Consultiva</dc:subject>
  <dc:creator>Man Motors S.A.</dc:creator>
  <cp:lastModifiedBy>GEISIELY FETSCH FETSCH</cp:lastModifiedBy>
  <cp:revision>5</cp:revision>
  <dcterms:created xsi:type="dcterms:W3CDTF">2026-07-24T21:49:56Z</dcterms:created>
  <dcterms:modified xsi:type="dcterms:W3CDTF">2026-07-25T11:08:46Z</dcterms:modified>
</cp:coreProperties>
</file>